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0" y="822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D766"/>
                </a:solidFill>
              </a:rPr>
              <a:t>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4A9EFF"/>
                </a:solidFill>
              </a:rPr>
              <a:t>SIGMA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Segmentation &amp; Image Guided Medical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290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99BB"/>
                </a:solidFill>
              </a:rPr>
              <a:t>View and segment DICOM and NIfTI volumes in your browser — no desktop install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160520"/>
            <a:ext cx="39593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BB"/>
                </a:solidFill>
              </a:rPr>
              <a:t>How-To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What is ΣIGMA?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A browser-native ITK-SNAP alternative for researchers and radiologists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749039" cy="4846320"/>
          </a:xfrm>
          <a:prstGeom prst="rect">
            <a:avLst/>
          </a:prstGeom>
          <a:noFill/>
          <a:ln w="1524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Axial, Coronal, Sagittal + Oblique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Synchronized crosshairs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048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Single-panel zoom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Window / Level presets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49039" cy="4846320"/>
          </a:xfrm>
          <a:prstGeom prst="rect">
            <a:avLst/>
          </a:prstGeom>
          <a:noFill/>
          <a:ln w="1524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Paint &amp; erase segmentation masks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939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Region grow (Grow2D)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048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Fill holes, clear slice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Undo (3 levels)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749039" cy="4846320"/>
          </a:xfrm>
          <a:prstGeom prst="rect">
            <a:avLst/>
          </a:prstGeom>
          <a:noFill/>
          <a:ln w="1524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Folder-based volume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939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DICOM &amp; NIfTI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048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Save masks as NIfTI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1576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• AI segmentation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Install once, then just run start.sh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50292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Clone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BB"/>
                </a:solidFill>
              </a:rPr>
              <a:t>git clone https://github.com/slowvak/SIGMA.git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Set up the Python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BB"/>
                </a:solidFill>
              </a:rPr>
              <a:t>cd server &amp;&amp; uv sync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74720"/>
            <a:ext cx="50292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Install frontend 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BB"/>
                </a:solidFill>
              </a:rPr>
              <a:t>cd client &amp;&amp; npm install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50292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480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Launch both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BB"/>
                </a:solidFill>
              </a:rPr>
              <a:t>./start.sh   →   open the URL shown in the 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BB"/>
                </a:solidFill>
              </a:rPr>
              <a:t>Prerequisites: uv (Python package manager) and Node.js + npm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Opening a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841248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Click  Open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Select any directory on your filesystem — ΣIGMA scans it automatically for DICOM series and NIfTI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11430000" cy="841248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86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Pick a volume from the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3405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The left panel shows every discovered series. Click one to load it into the viewer.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11430000" cy="841248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467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Wait for the progress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Volume data streams from the local server into browser memory. Large CTs take a few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11430000" cy="841248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06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Use  Back to Volumes  to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542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Switch volumes at any time without restarting the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The 4-Panel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Axial · Coronal · Sagittal · Oblique — all synchronized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271016"/>
            <a:ext cx="2487168" cy="2532888"/>
          </a:xfrm>
          <a:prstGeom prst="rect">
            <a:avLst/>
          </a:prstGeom>
          <a:noFill/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FF"/>
                </a:solidFill>
              </a:rPr>
              <a:t>Axial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271016"/>
            <a:ext cx="2487168" cy="2532888"/>
          </a:xfrm>
          <a:prstGeom prst="rect">
            <a:avLst/>
          </a:prstGeom>
          <a:noFill/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344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FF"/>
                </a:solidFill>
              </a:rPr>
              <a:t>Coronal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3877056"/>
            <a:ext cx="2487168" cy="2532888"/>
          </a:xfrm>
          <a:prstGeom prst="rect">
            <a:avLst/>
          </a:prstGeom>
          <a:noFill/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50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FF"/>
                </a:solidFill>
              </a:rPr>
              <a:t>Sagittal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656" y="3877056"/>
            <a:ext cx="2487168" cy="2532888"/>
          </a:xfrm>
          <a:prstGeom prst="rect">
            <a:avLst/>
          </a:prstGeom>
          <a:noFill/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950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FF"/>
                </a:solidFill>
              </a:rPr>
              <a:t>Oblique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Scroll slices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49047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Mouse wheel or click-drag up/down on any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391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Crosshair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9514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All panels update instantly when you click with the crosshair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84378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Single-panel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9981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Click the panel's name label (A / C / S) to expand it full-screen; press 4 to 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6484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Slice slider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9044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The bar below each panel lets you jump to any slice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4531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Oblique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709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Always shows the plane defined by the current crosshair intersection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Window /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Adjust image contrast and brightness for your tissue of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Right-click drag on any viewer panel: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9EFF"/>
                </a:solidFill>
              </a:rPr>
              <a:t>← →  (left / 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373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Changes Window width (contrast)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9EFF"/>
                </a:solidFill>
              </a:rPr>
              <a:t>↑ ↓  (up / down)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128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0"/>
                </a:solidFill>
              </a:rPr>
              <a:t>Changes Level / centre point (brightness)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Quick Presets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solidFill>
            <a:srgbClr val="1E2E4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66"/>
                </a:solidFill>
              </a:rPr>
              <a:t>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W 80  L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291840"/>
            <a:ext cx="2560320" cy="1005840"/>
          </a:xfrm>
          <a:prstGeom prst="rect">
            <a:avLst/>
          </a:prstGeom>
          <a:solidFill>
            <a:srgbClr val="1E2E4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66"/>
                </a:solidFill>
              </a:rPr>
              <a:t>Bone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W 2000  L 400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291840"/>
            <a:ext cx="2560320" cy="1005840"/>
          </a:xfrm>
          <a:prstGeom prst="rect">
            <a:avLst/>
          </a:prstGeom>
          <a:solidFill>
            <a:srgbClr val="1E2E4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66"/>
                </a:solidFill>
              </a:rPr>
              <a:t>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W 1500  L -600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3291840"/>
            <a:ext cx="2560320" cy="1005840"/>
          </a:xfrm>
          <a:prstGeom prst="rect">
            <a:avLst/>
          </a:prstGeom>
          <a:solidFill>
            <a:srgbClr val="1E2E4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66"/>
                </a:solidFill>
              </a:rPr>
              <a:t>Abdomen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W 350  L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BB"/>
                </a:solidFill>
              </a:rPr>
              <a:t>Current W/L values are shown in the tool panel at all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Segmentation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577840" cy="1197864"/>
          </a:xfrm>
          <a:prstGeom prst="rect">
            <a:avLst/>
          </a:prstGeom>
          <a:noFill/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✛  Crosshair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Navigate across all panels simultaneously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082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Click to set crosshair; all views re-centre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577840" cy="1819656"/>
          </a:xfrm>
          <a:prstGeom prst="rect">
            <a:avLst/>
          </a:prstGeom>
          <a:noFill/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✏  Paint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190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Left-click drag to paint the active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2082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Brush Radius slider controls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2257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Brush Depth paints through N adjacent slices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2432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Intensity Limits restrict painting by HU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577840" cy="1819656"/>
          </a:xfrm>
          <a:prstGeom prst="rect">
            <a:avLst/>
          </a:prstGeom>
          <a:noFill/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⊕  Grow2D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422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Click a seed voxel on the current slice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4398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Expands to connected voxels within Min–Max intensity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457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Range auto-sets to mean±stdev of 5×5 patch around 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4748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Adjust with the dual slider or type values directly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03320"/>
            <a:ext cx="5577840" cy="1197864"/>
          </a:xfrm>
          <a:prstGeom prst="rect">
            <a:avLst/>
          </a:prstGeom>
          <a:noFill/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94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66"/>
                </a:solidFill>
              </a:rPr>
              <a:t>⊘  Erase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422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Select Erase mode in the label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4398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• Brush removes voxels of any label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Operations in the toolbar that modify the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Undo  (Ctrl+Z)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Reverts the last paint, grow, refine, propagate, or fill operation. Supports up to 3 levels of undo.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Refine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824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Snaps the active label boundary to image edges on the current axial slice using Sobel gradient detection.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Propagate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797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Copies the label from the adjacent slice and refines it — use this to step through a stack slice by slice.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Fill Holes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797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Fills enclosed background regions within each connected component of the active label on the current slice.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Clear 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7705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Removes all voxels of the active label on the current slice only. Useful for restarting a single slice.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47472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7705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Smooths raw image intensities. Choose 2D/3D, Mean/Median/Sigma (Gaussian), kernel size 3/5/7, Slice or Volume.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572000"/>
            <a:ext cx="5577840" cy="9601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645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Save As…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743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Writes the current segmentation back to the server as a NIfTI (.nii.gz) mask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Managing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The label panel lives on the right side of the toolbar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Single-click a 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3258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Makes it the active label for painting, erasing, and all segmentation operations.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28216"/>
            <a:ext cx="11247120" cy="1016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Double-click a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75688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Opens the label editor — rename the label, change its colour, or delete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247120" cy="1016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Eye 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2549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Toggle the visibility of a label in the overlay without changing which label is active.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27832"/>
            <a:ext cx="11247120" cy="1016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753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Colour swatch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575304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Quick-click to change a label's display colour directly from the list.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11247120" cy="1016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+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325112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Add a new label. Prompts for a name and auto-assigns the next available colour.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27448"/>
            <a:ext cx="11247120" cy="1016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Label Overlay Opacity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07492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Slider (0–100%) controls how opaque the segmentation colour overlay appears over the image.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77256"/>
            <a:ext cx="11247120" cy="1016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BB"/>
                </a:solidFill>
              </a:rPr>
              <a:t>Accelerate segmentation with automated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Click the 🤖 AI button in the toolbar to open the model picker.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645920"/>
          </a:xfrm>
          <a:prstGeom prst="rect">
            <a:avLst/>
          </a:prstGeom>
          <a:noFill/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9EFF"/>
                </a:solidFill>
              </a:rPr>
              <a:t>TotalSegmentator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Downloads the current volume as a NIfTI file and opens totalsegmentator.com for full-body auto-segmentation. The result can be imported back as a label 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94759"/>
            <a:ext cx="11247120" cy="1645920"/>
          </a:xfrm>
          <a:prstGeom prst="rect">
            <a:avLst/>
          </a:prstGeom>
          <a:noFill/>
          <a:ln w="19050">
            <a:solidFill>
              <a:srgbClr val="FFD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3191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66"/>
                </a:solidFill>
              </a:rPr>
              <a:t>Server-Side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39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Custom models defined in  models/ai-models.json  appear in the picker automatically. Any model that accepts a NIfTI volume and returns a mask can be wired 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Keyboard Shortcuts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99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17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Open the in-app help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039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Ctrl + 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574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Undo last segmentation edit (up to 3 levels)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679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Escape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974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Close any open modal dialog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319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337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Return to 4-panel view from single-panel 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399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A / C /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417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Click the panel label to expand Axial / Coronal / Sagittal to full screen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96596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039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Mouse 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574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Scroll through slices on the focused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606040"/>
            <a:ext cx="2743200" cy="475488"/>
          </a:xfrm>
          <a:prstGeom prst="rect">
            <a:avLst/>
          </a:prstGeom>
          <a:solidFill>
            <a:srgbClr val="1E2E4A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679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66"/>
                </a:solidFill>
              </a:rPr>
              <a:t>Right-click drag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0"/>
                </a:solidFill>
              </a:rPr>
              <a:t>Adjust Window (left/right) and Level (up/down)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Typical Segmentation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Open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Point ΣIGMA at the directory containing your DICOMs or NIfTIs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53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Select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190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Click the series in the left panel to load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87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Set Window /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53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Use a preset (Brain / Bone / Lung / Abd) or right-click drag to tune contrast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1460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87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Create / select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53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Click + to add a label, or single-click an existing one to activate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4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221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Paint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879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Use Paint or Grow2D to lay down your initial segmentation on a representative slice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4904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221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Propagate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1879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Press Propagate to copy-and-refine the label to adjacent slices, stepping through the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8348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56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Clean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223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Use Fill Holes, Clear Slice, or manual painting to fix any errors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983480"/>
            <a:ext cx="5486400" cy="105156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E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56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6"/>
                </a:solidFill>
              </a:rPr>
              <a:t>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223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Click Save As… to write the mask back to disk as a NIfTI 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"/>
            <a:ext cx="11274552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EFF"/>
                </a:solidFill>
              </a:rPr>
              <a:t>Tips &amp; Tricks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577840" cy="14173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66"/>
                </a:solidFill>
              </a:rPr>
              <a:t>Use Intensity Limits while painting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Restrict the brush to a HU range so you only paint the tissue you intend — prevents spill-over into adjacent structures.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577840" cy="14173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66"/>
                </a:solidFill>
              </a:rPr>
              <a:t>Grow2D + Propagate combo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1907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Grow2D a seed on the clearest slice, then Propagate through the rest of the stack for fast, consistent labelling.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5577840" cy="14173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66"/>
                </a:solidFill>
              </a:rPr>
              <a:t>Brush Depth for thick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735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Set Brush Depth &gt; 1 to paint through multiple slices at once — great for large uniform regions.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66"/>
                </a:solidFill>
              </a:rPr>
              <a:t>Adjust opacity while reviewing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735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Lower the Label Overlay Opacity to see the underlying image anatomy while checking your mask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5577840" cy="14173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66"/>
                </a:solidFill>
              </a:rPr>
              <a:t>Double-click to rename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Double-click any label in the panel to rename it, change colour, or delete — keep labels descriptive from the 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389120"/>
            <a:ext cx="5577840" cy="1417320"/>
          </a:xfrm>
          <a:prstGeom prst="rect">
            <a:avLst/>
          </a:prstGeom>
          <a:noFill/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480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66"/>
                </a:solidFill>
              </a:rPr>
              <a:t>Filter before growing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2803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Apply a 2D Gaussian (Sigma) filter to noisy slices before using Grow2D — the smoother intensity surface yields cleaner region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